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Fira Sans"/>
      <p:regular r:id="rId201314"/>
    </p:embeddedFont>
    <p:embeddedFont>
      <p:font typeface="Fira Sans SemiBold"/>
      <p:regular r:id="rId201315"/>
    </p:embeddedFont>
    <p:embeddedFont>
      <p:font typeface="Fira Sans Bold"/>
      <p:regular r:id="rId201316"/>
    </p:embeddedFont>
    <p:embeddedFont>
      <p:font typeface="Lexend Exa Light"/>
      <p:regular r:id="rId201317"/>
    </p:embeddedFont>
    <p:embeddedFont>
      <p:font typeface="Lexend Exa Medium"/>
      <p:regular r:id="rId201318"/>
    </p:embeddedFont>
    <p:embeddedFont>
      <p:font typeface="Lexend Exa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2464" y="1590358"/>
            <a:ext cx="73467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FFFCF5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DESIGN AND ANALYSIS OF ALGORITHMS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727257" y="1971675"/>
            <a:ext cx="6737181" cy="329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000" spc="240" kern="100" dirty="0">
                <a:solidFill>
                  <a:srgbClr val="FFFCF5"/>
                </a:solidFill>
                <a:latin typeface="Lexend Exa Light" pitchFamily="34" charset="0"/>
                <a:ea typeface="Lexend Exa Light" pitchFamily="34" charset="-122"/>
                <a:cs typeface="Lexend Exa Light" pitchFamily="34" charset="-120"/>
              </a:rPr>
              <a:t>Introduction to</a:t>
            </a:r>
            <a:endParaRPr lang="en-US" sz="6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0" spc="240" kern="100" dirty="0">
                <a:solidFill>
                  <a:srgbClr val="FFFCF5"/>
                </a:solidFill>
                <a:latin typeface="Lexend Exa Light" pitchFamily="34" charset="0"/>
                <a:ea typeface="Lexend Exa Light" pitchFamily="34" charset="-122"/>
                <a:cs typeface="Lexend Exa Light" pitchFamily="34" charset="-120"/>
              </a:rPr>
              <a:t>Dynamic Programming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422464" y="5444331"/>
            <a:ext cx="73467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CF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Design and Analysis of Algorithms (DAA)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422464" y="6001782"/>
            <a:ext cx="734676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FFFCF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6258"/>
            <a:ext cx="71118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1C4286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THE CORE IDEA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878005"/>
            <a:ext cx="6578435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Dynamic programming reduces repeated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82998"/>
            <a:ext cx="554917" cy="554930"/>
          </a:xfrm>
          <a:prstGeom prst="ellipse">
            <a:avLst/>
          </a:prstGeom>
          <a:noFill/>
          <a:ln w="12700">
            <a:solidFill>
              <a:srgbClr val="BC8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3793" y="2221706"/>
            <a:ext cx="736085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C428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16898" y="2092523"/>
            <a:ext cx="587112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Definition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6898" y="2635448"/>
            <a:ext cx="5871123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Solve complex problems by breaking them into simpler subproblems and caching their results.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9585" y="3615730"/>
            <a:ext cx="554917" cy="554930"/>
          </a:xfrm>
          <a:prstGeom prst="ellipse">
            <a:avLst/>
          </a:prstGeom>
          <a:noFill/>
          <a:ln w="12700">
            <a:solidFill>
              <a:srgbClr val="BC8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955" y="3754438"/>
            <a:ext cx="751662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C428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16898" y="3625255"/>
            <a:ext cx="587112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Optimal substructure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16898" y="4168180"/>
            <a:ext cx="5871123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optimal solution can be built from optimal solutions to smaller subproblems.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09585" y="5148461"/>
            <a:ext cx="554917" cy="554930"/>
          </a:xfrm>
          <a:prstGeom prst="ellipse">
            <a:avLst/>
          </a:prstGeom>
          <a:noFill/>
          <a:ln w="12700">
            <a:solidFill>
              <a:srgbClr val="BC8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558" y="5287169"/>
            <a:ext cx="75245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1C428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16898" y="5157986"/>
            <a:ext cx="587112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Overlapping subproblems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6898" y="5700911"/>
            <a:ext cx="5871123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same smaller problems recur across the solution.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9585" y="6280190"/>
            <a:ext cx="711182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1C428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180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Plain recursion recomputes the same Fibonacci values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370163"/>
            <a:ext cx="4876678" cy="2743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32" y="3235226"/>
            <a:ext cx="4876678" cy="4132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05432" y="3750707"/>
            <a:ext cx="5486263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F(0) = 0 and F(1) = 1.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705432" y="4214217"/>
            <a:ext cx="4876678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 f(5), f(3) is computed 2 times and f(2) 3 times.</a:t>
            </a:r>
            <a:endParaRPr lang="en-US" sz="19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overlapping call tree drives naive recursion to exponential time: O(2^n).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705432" y="6000790"/>
            <a:ext cx="5486263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180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Memoization turns repeated calls into lookups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32173"/>
            <a:ext cx="4317892" cy="2733973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1987431"/>
            <a:ext cx="4013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000000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BEFORE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377" y="2321123"/>
            <a:ext cx="370830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Plain recursion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377" y="2878018"/>
            <a:ext cx="370830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192" kern="100" dirty="0">
                <a:solidFill>
                  <a:srgbClr val="000000"/>
                </a:solidFill>
                <a:latin typeface="Lexend Exa Light" pitchFamily="34" charset="0"/>
                <a:ea typeface="Lexend Exa Light" pitchFamily="34" charset="-122"/>
                <a:cs typeface="Lexend Exa Light" pitchFamily="34" charset="-120"/>
              </a:rPr>
              <a:t>O(2^n)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230" y="2722563"/>
            <a:ext cx="603235" cy="603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50952" y="3428048"/>
            <a:ext cx="108969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reuse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264218" y="1832173"/>
            <a:ext cx="4317892" cy="2733973"/>
          </a:xfrm>
          <a:prstGeom prst="rect">
            <a:avLst/>
          </a:prstGeom>
          <a:solidFill>
            <a:srgbClr val="1C4286"/>
          </a:solidFill>
          <a:ln/>
        </p:spPr>
      </p:sp>
      <p:sp>
        <p:nvSpPr>
          <p:cNvPr id="10" name="Text 7"/>
          <p:cNvSpPr/>
          <p:nvPr/>
        </p:nvSpPr>
        <p:spPr>
          <a:xfrm>
            <a:off x="7569011" y="1987431"/>
            <a:ext cx="4013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FFFFFF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AFTER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69011" y="2321123"/>
            <a:ext cx="370830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Memoization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569011" y="2864048"/>
            <a:ext cx="3708307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Top-down dynamic programming uses an auxiliary cache.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569011" y="3801150"/>
            <a:ext cx="370830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192" kern="100" dirty="0">
                <a:solidFill>
                  <a:srgbClr val="FFFFFF"/>
                </a:solidFill>
                <a:latin typeface="Lexend Exa Light" pitchFamily="34" charset="0"/>
                <a:ea typeface="Lexend Exa Light" pitchFamily="34" charset="-122"/>
                <a:cs typeface="Lexend Exa Light" pitchFamily="34" charset="-120"/>
              </a:rPr>
              <a:t>O(n)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09585" y="5105598"/>
            <a:ext cx="10972526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Before computing a subproblem, look it up; if cached, reuse the result. For Fibonacci, complexity drops from O(2^n) to O(n).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09585" y="600079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180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Weighted interval scheduling is a 1D DP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32173"/>
            <a:ext cx="3454314" cy="3948906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070298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Jobs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179" y="2613223"/>
            <a:ext cx="2997125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Select compatible jobs with start sᵢ, finish fᵢ, and value vᵢ to maximize total weight.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68691" y="1832173"/>
            <a:ext cx="3454314" cy="3948906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7" name="Text 5"/>
          <p:cNvSpPr/>
          <p:nvPr/>
        </p:nvSpPr>
        <p:spPr>
          <a:xfrm>
            <a:off x="4597285" y="2070298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Order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97285" y="2613223"/>
            <a:ext cx="3225719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Sort jobs by finish time.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27797" y="1832173"/>
            <a:ext cx="3454314" cy="3948906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10" name="Text 8"/>
          <p:cNvSpPr/>
          <p:nvPr/>
        </p:nvSpPr>
        <p:spPr>
          <a:xfrm>
            <a:off x="8356391" y="2070298"/>
            <a:ext cx="29971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Compatibility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56391" y="2613223"/>
            <a:ext cx="2997125" cy="135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Compute compatibility index p(j), the last job compatible with job j, in O(n log n).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6000790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1C4286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THE DECISION AT EACH JOB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95420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Each job is either included or excluded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377" y="2463998"/>
            <a:ext cx="85385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1C428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377" y="2801838"/>
            <a:ext cx="2844729" cy="19050"/>
          </a:xfrm>
          <a:prstGeom prst="rect">
            <a:avLst/>
          </a:prstGeom>
          <a:solidFill>
            <a:srgbClr val="1C4286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975173"/>
            <a:ext cx="28447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377" y="3518098"/>
            <a:ext cx="314952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Include job j.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" y="3995539"/>
            <a:ext cx="2844729" cy="4132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3483" y="2463998"/>
            <a:ext cx="8702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1C4286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673483" y="2801838"/>
            <a:ext cx="2844729" cy="19050"/>
          </a:xfrm>
          <a:prstGeom prst="rect">
            <a:avLst/>
          </a:prstGeom>
          <a:solidFill>
            <a:srgbClr val="1C4286"/>
          </a:solidFill>
          <a:ln/>
        </p:spPr>
      </p:sp>
      <p:sp>
        <p:nvSpPr>
          <p:cNvPr id="11" name="Text 8"/>
          <p:cNvSpPr/>
          <p:nvPr/>
        </p:nvSpPr>
        <p:spPr>
          <a:xfrm>
            <a:off x="4673483" y="2975173"/>
            <a:ext cx="28447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OUT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673483" y="3518098"/>
            <a:ext cx="3149521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Exclude job j.</a:t>
            </a:r>
            <a:endParaRPr lang="en-US" sz="1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83" y="3995539"/>
            <a:ext cx="2844729" cy="41324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27797" y="2159198"/>
            <a:ext cx="3454314" cy="3252688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15" name="Text 11"/>
          <p:cNvSpPr/>
          <p:nvPr/>
        </p:nvSpPr>
        <p:spPr>
          <a:xfrm>
            <a:off x="8432589" y="2463998"/>
            <a:ext cx="87121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8432589" y="2801838"/>
            <a:ext cx="2844729" cy="19050"/>
          </a:xfrm>
          <a:prstGeom prst="rect">
            <a:avLst/>
          </a:prstGeom>
          <a:solidFill>
            <a:srgbClr val="1C4286"/>
          </a:solidFill>
          <a:ln/>
        </p:spPr>
      </p:sp>
      <p:sp>
        <p:nvSpPr>
          <p:cNvPr id="17" name="Text 13"/>
          <p:cNvSpPr/>
          <p:nvPr/>
        </p:nvSpPr>
        <p:spPr>
          <a:xfrm>
            <a:off x="8432589" y="2975173"/>
            <a:ext cx="284472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Choose the better path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89" y="3867348"/>
            <a:ext cx="2844729" cy="12397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9585" y="5627787"/>
            <a:ext cx="6309262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Optimal substructure: job j is either IN or OUT.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7375936" y="5627787"/>
            <a:ext cx="4206174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State dimensionality: a 1-dimensional array dp[j].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609585" y="6522978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1C4286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WHEN ONE INDEX IS NOT ENOUGH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954205"/>
            <a:ext cx="10972526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LCS uses a 2D state space to compare two sequences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87798"/>
          <a:ext cx="6834910" cy="914400"/>
        </p:xfrm>
        <a:graphic>
          <a:graphicData uri="http://schemas.openxmlformats.org/drawingml/2006/table">
            <a:tbl>
              <a:tblPr/>
              <a:tblGrid>
                <a:gridCol w="2187115"/>
                <a:gridCol w="4647794"/>
              </a:tblGrid>
              <a:tr h="543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F3A5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Condition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F3A5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Recurrence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3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X[i] = Y[j]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c[i,j] = c[i−1,j−1] + 1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DDBE"/>
                    </a:solidFill>
                  </a:tcPr>
                </a:tc>
              </a:tr>
              <a:tr h="5306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X[i] ≠ Y[j]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c[i,j] = max(c[i−1,j], c[i,j−1])</a:t>
                      </a:r>
                      <a:endParaRPr lang="en-US" sz="19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DDB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173974"/>
            <a:ext cx="683490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State: matrix dp[0..m][0..n].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901584" y="2159198"/>
            <a:ext cx="3680527" cy="3490119"/>
          </a:xfrm>
          <a:prstGeom prst="rect">
            <a:avLst/>
          </a:prstGeom>
          <a:solidFill>
            <a:srgbClr val="1C4286"/>
          </a:solidFill>
          <a:ln/>
        </p:spPr>
      </p:sp>
      <p:sp>
        <p:nvSpPr>
          <p:cNvPr id="7" name="Text 4"/>
          <p:cNvSpPr/>
          <p:nvPr/>
        </p:nvSpPr>
        <p:spPr>
          <a:xfrm>
            <a:off x="8206376" y="2314456"/>
            <a:ext cx="33757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FFFFFF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LCS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06376" y="2648148"/>
            <a:ext cx="307094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Problem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06376" y="3191073"/>
            <a:ext cx="3070942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 the longest shared subsequence between X[1..m] and Y[1..n].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06376" y="4343995"/>
            <a:ext cx="3375734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O(m · n)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06376" y="4821436"/>
            <a:ext cx="3070942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 and space are O(m · n).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09585" y="5869027"/>
            <a:ext cx="1158211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5458"/>
            <a:ext cx="81277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240" kern="100" dirty="0">
                <a:solidFill>
                  <a:srgbClr val="1C4286"/>
                </a:solidFill>
                <a:latin typeface="Lexend Exa Medium" pitchFamily="34" charset="0"/>
                <a:ea typeface="Lexend Exa Medium" pitchFamily="34" charset="-122"/>
                <a:cs typeface="Lexend Exa Medium" pitchFamily="34" charset="-120"/>
              </a:rPr>
              <a:t>THE DESIGN PATTERN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827205"/>
            <a:ext cx="7645209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102" kern="100" dirty="0">
                <a:solidFill>
                  <a:srgbClr val="1F3A5F"/>
                </a:solidFill>
                <a:latin typeface="Lexend Exa SemiBold" pitchFamily="34" charset="0"/>
                <a:ea typeface="Lexend Exa SemiBold" pitchFamily="34" charset="-122"/>
                <a:cs typeface="Lexend Exa SemiBold" pitchFamily="34" charset="-120"/>
              </a:rPr>
              <a:t>Choose the state, cache the work, reuse the result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32198"/>
            <a:ext cx="3670208" cy="2601913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321123"/>
            <a:ext cx="3111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1D DP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8978" y="2864048"/>
            <a:ext cx="3111422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Tracks one index, as in weighted interval scheduling.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8978" y="4016970"/>
            <a:ext cx="339081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dp[j]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84585" y="2032198"/>
            <a:ext cx="3670208" cy="2601913"/>
          </a:xfrm>
          <a:prstGeom prst="rect">
            <a:avLst/>
          </a:prstGeom>
          <a:solidFill>
            <a:srgbClr val="EBDDBE"/>
          </a:solidFill>
          <a:ln/>
        </p:spPr>
      </p:sp>
      <p:sp>
        <p:nvSpPr>
          <p:cNvPr id="9" name="Text 7"/>
          <p:cNvSpPr/>
          <p:nvPr/>
        </p:nvSpPr>
        <p:spPr>
          <a:xfrm>
            <a:off x="4863978" y="2321123"/>
            <a:ext cx="3111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2D DP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63978" y="2864048"/>
            <a:ext cx="339081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Tracks two, as in LCS.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63978" y="3341489"/>
            <a:ext cx="339081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dp[0..m][0..n]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4859536"/>
            <a:ext cx="367020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Memoization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585" y="5402461"/>
            <a:ext cx="3670208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Top-down: recurse, then cache.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84585" y="4859536"/>
            <a:ext cx="367020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3A5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Tabulation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84585" y="5402461"/>
            <a:ext cx="3670208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Bottom-up: fill a table from base cases to the final answer.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09585" y="6297652"/>
            <a:ext cx="8127797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7" kern="100" dirty="0">
                <a:solidFill>
                  <a:srgbClr val="5E585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using Gamma AI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37381" y="0"/>
            <a:ext cx="3454314" cy="6858000"/>
          </a:xfrm>
          <a:prstGeom prst="rect">
            <a:avLst/>
          </a:prstGeom>
          <a:solidFill>
            <a:srgbClr val="1C428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381" y="0"/>
            <a:ext cx="345431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2026-10-18T13:09:01Z</dcterms:created>
  <dcterms:modified xsi:type="dcterms:W3CDTF">2026-10-18T13:09:01Z</dcterms:modified>
</cp:coreProperties>
</file>